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Playfair Display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PlayfairDisplay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layfairDisplay-italic.fntdata"/><Relationship Id="rId25" Type="http://schemas.openxmlformats.org/officeDocument/2006/relationships/font" Target="fonts/PlayfairDisplay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PlayfairDisplay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f33f0135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f33f01355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f33f01355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f33f01355_0_2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f33f0135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ef33f01355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21.jpg"/><Relationship Id="rId7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85912"/>
            <a:ext cx="110490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/>
        </p:nvSpPr>
        <p:spPr>
          <a:xfrm>
            <a:off x="905351" y="2166937"/>
            <a:ext cx="1038129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Cacau Show</a:t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1152525" y="3119437"/>
            <a:ext cx="98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AMOR EM CADA PEDACINHO</a:t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4667250" y="3871912"/>
            <a:ext cx="28575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5"/>
          <p:cNvSpPr txBox="1"/>
          <p:nvPr/>
        </p:nvSpPr>
        <p:spPr>
          <a:xfrm>
            <a:off x="1152525" y="4271962"/>
            <a:ext cx="9886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5F5F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Mateus Cunha • Mirella Militani • Gabriel Pedrozo • Vinícius Carvalho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/>
        </p:nvSpPr>
        <p:spPr>
          <a:xfrm>
            <a:off x="809625" y="571500"/>
            <a:ext cx="1135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INTRODUÇÃO</a:t>
            </a:r>
            <a:endParaRPr/>
          </a:p>
        </p:txBody>
      </p:sp>
      <p:sp>
        <p:nvSpPr>
          <p:cNvPr id="169" name="Google Shape;169;p26"/>
          <p:cNvSpPr/>
          <p:nvPr/>
        </p:nvSpPr>
        <p:spPr>
          <a:xfrm>
            <a:off x="571500" y="571500"/>
            <a:ext cx="5730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571500" y="2719387"/>
            <a:ext cx="55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Caso de Estudo</a:t>
            </a:r>
            <a:endParaRPr/>
          </a:p>
        </p:txBody>
      </p:sp>
      <p:sp>
        <p:nvSpPr>
          <p:cNvPr id="171" name="Google Shape;171;p26"/>
          <p:cNvSpPr txBox="1"/>
          <p:nvPr/>
        </p:nvSpPr>
        <p:spPr>
          <a:xfrm>
            <a:off x="571500" y="3490912"/>
            <a:ext cx="5238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Uma análise profunda sobre como a teoria administrativa se torna prática em uma das maiores redes de franquias do mundo.</a:t>
            </a:r>
            <a:endParaRPr/>
          </a:p>
        </p:txBody>
      </p:sp>
      <p:pic>
        <p:nvPicPr>
          <p:cNvPr descr="image.png" id="172" name="Google Shape;1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0" y="29337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25" y="1720675"/>
            <a:ext cx="4287900" cy="433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 txBox="1"/>
          <p:nvPr/>
        </p:nvSpPr>
        <p:spPr>
          <a:xfrm>
            <a:off x="809625" y="571500"/>
            <a:ext cx="1135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SURGIMENTO</a:t>
            </a: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571500" y="571500"/>
            <a:ext cx="5730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6381750" y="2876550"/>
            <a:ext cx="550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1988: A Visão</a:t>
            </a:r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6381750" y="3362325"/>
            <a:ext cx="5238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Como surgiu a Cacau Show?</a:t>
            </a:r>
            <a:endParaRPr/>
          </a:p>
        </p:txBody>
      </p:sp>
      <p:sp>
        <p:nvSpPr>
          <p:cNvPr id="182" name="Google Shape;182;p27"/>
          <p:cNvSpPr txBox="1"/>
          <p:nvPr/>
        </p:nvSpPr>
        <p:spPr>
          <a:xfrm>
            <a:off x="6381750" y="4079550"/>
            <a:ext cx="523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"O sonho de Alexandre Costa"</a:t>
            </a:r>
            <a:endParaRPr/>
          </a:p>
        </p:txBody>
      </p:sp>
      <p:pic>
        <p:nvPicPr>
          <p:cNvPr id="183" name="Google Shape;183;p27" title="images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100" y="1764425"/>
            <a:ext cx="4243550" cy="424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62125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10100"/>
            <a:ext cx="523875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 txBox="1"/>
          <p:nvPr/>
        </p:nvSpPr>
        <p:spPr>
          <a:xfrm>
            <a:off x="809625" y="571500"/>
            <a:ext cx="11351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CONTEXTUALIZAÇÃO</a:t>
            </a: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571500" y="2476500"/>
            <a:ext cx="55008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Funcionamento da empresa</a:t>
            </a: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571500" y="3219450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Sistema de </a:t>
            </a:r>
            <a:r>
              <a:rPr lang="en-US" sz="195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franqueamento</a:t>
            </a:r>
            <a:r>
              <a:rPr lang="en-US" sz="195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 - atualmente 2 unidades em Lavras-MG.</a:t>
            </a:r>
            <a:endParaRPr sz="1950">
              <a:solidFill>
                <a:srgbClr val="F5F5F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857250" y="5048250"/>
            <a:ext cx="4667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Diferencial da Franquia:</a:t>
            </a: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 Equipe 100% Feminina.</a:t>
            </a:r>
            <a:endParaRPr/>
          </a:p>
        </p:txBody>
      </p:sp>
      <p:pic>
        <p:nvPicPr>
          <p:cNvPr id="195" name="Google Shape;195;p28" title="cacau-show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1750" y="1762125"/>
            <a:ext cx="52387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76550"/>
            <a:ext cx="3492400" cy="451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1576550"/>
            <a:ext cx="3492550" cy="451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1576549"/>
            <a:ext cx="3492400" cy="45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9"/>
          <p:cNvSpPr txBox="1"/>
          <p:nvPr/>
        </p:nvSpPr>
        <p:spPr>
          <a:xfrm>
            <a:off x="809625" y="571500"/>
            <a:ext cx="11351400" cy="519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MIX DE VALOR</a:t>
            </a: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809627" y="4592138"/>
            <a:ext cx="3066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Trufas</a:t>
            </a:r>
            <a:endParaRPr/>
          </a:p>
        </p:txBody>
      </p:sp>
      <p:sp>
        <p:nvSpPr>
          <p:cNvPr id="206" name="Google Shape;206;p29"/>
          <p:cNvSpPr txBox="1"/>
          <p:nvPr/>
        </p:nvSpPr>
        <p:spPr>
          <a:xfrm>
            <a:off x="809625" y="5168434"/>
            <a:ext cx="29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O clássico democrático.</a:t>
            </a:r>
            <a:endParaRPr/>
          </a:p>
        </p:txBody>
      </p:sp>
      <p:sp>
        <p:nvSpPr>
          <p:cNvPr id="207" name="Google Shape;207;p29"/>
          <p:cNvSpPr txBox="1"/>
          <p:nvPr/>
        </p:nvSpPr>
        <p:spPr>
          <a:xfrm>
            <a:off x="4562374" y="4593675"/>
            <a:ext cx="3067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Pistache</a:t>
            </a:r>
            <a:endParaRPr/>
          </a:p>
        </p:txBody>
      </p:sp>
      <p:sp>
        <p:nvSpPr>
          <p:cNvPr id="208" name="Google Shape;208;p29"/>
          <p:cNvSpPr txBox="1"/>
          <p:nvPr/>
        </p:nvSpPr>
        <p:spPr>
          <a:xfrm>
            <a:off x="4635400" y="5168421"/>
            <a:ext cx="2921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O fenômeno de mercado.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8340677" y="4592138"/>
            <a:ext cx="3066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Linha Zero</a:t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8413700" y="5170334"/>
            <a:ext cx="29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Inclusão com sabor premium.</a:t>
            </a:r>
            <a:endParaRPr/>
          </a:p>
        </p:txBody>
      </p:sp>
      <p:sp>
        <p:nvSpPr>
          <p:cNvPr id="211" name="Google Shape;211;p29"/>
          <p:cNvSpPr/>
          <p:nvPr/>
        </p:nvSpPr>
        <p:spPr>
          <a:xfrm>
            <a:off x="1261250" y="2246575"/>
            <a:ext cx="2079000" cy="2094000"/>
          </a:xfrm>
          <a:prstGeom prst="rect">
            <a:avLst/>
          </a:prstGeom>
          <a:solidFill>
            <a:srgbClr val="C5A0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8851600" y="2246575"/>
            <a:ext cx="2079000" cy="2094000"/>
          </a:xfrm>
          <a:prstGeom prst="rect">
            <a:avLst/>
          </a:prstGeom>
          <a:solidFill>
            <a:srgbClr val="C5A0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5056425" y="2246575"/>
            <a:ext cx="2079000" cy="2094000"/>
          </a:xfrm>
          <a:prstGeom prst="rect">
            <a:avLst/>
          </a:prstGeom>
          <a:solidFill>
            <a:srgbClr val="C5A05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9" title="ovo-pistache.jf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3052" y="2287288"/>
            <a:ext cx="1985736" cy="201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 title="trufas.jf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7875" y="2287288"/>
            <a:ext cx="1985750" cy="201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9" title="linha-zero-bom.jf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98225" y="2300726"/>
            <a:ext cx="1985749" cy="198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/>
        </p:nvSpPr>
        <p:spPr>
          <a:xfrm>
            <a:off x="809625" y="571500"/>
            <a:ext cx="11351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TÓPICOS ABORDADOS</a:t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600" y="3209925"/>
            <a:ext cx="18383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4325" y="3209925"/>
            <a:ext cx="21621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8900" y="3209925"/>
            <a:ext cx="18478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29150" y="3209925"/>
            <a:ext cx="15811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62700" y="3209925"/>
            <a:ext cx="2286000" cy="4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1864088"/>
            <a:ext cx="4039925" cy="40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1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CONCEITO 1: SISTEMA ABERTO</a:t>
            </a:r>
            <a:endParaRPr/>
          </a:p>
        </p:txBody>
      </p:sp>
      <p:sp>
        <p:nvSpPr>
          <p:cNvPr id="234" name="Google Shape;234;p31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1"/>
          <p:cNvSpPr txBox="1"/>
          <p:nvPr/>
        </p:nvSpPr>
        <p:spPr>
          <a:xfrm>
            <a:off x="6381750" y="3184773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Criação de Tendências</a:t>
            </a:r>
            <a:endParaRPr/>
          </a:p>
        </p:txBody>
      </p:sp>
      <p:sp>
        <p:nvSpPr>
          <p:cNvPr id="236" name="Google Shape;236;p31"/>
          <p:cNvSpPr txBox="1"/>
          <p:nvPr/>
        </p:nvSpPr>
        <p:spPr>
          <a:xfrm>
            <a:off x="6381750" y="3632448"/>
            <a:ext cx="5238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A marca não apenas reage ao ambiente; ela molda o consumo através do pioneirismo.</a:t>
            </a:r>
            <a:endParaRPr/>
          </a:p>
        </p:txBody>
      </p:sp>
      <p:sp>
        <p:nvSpPr>
          <p:cNvPr id="237" name="Google Shape;237;p31"/>
          <p:cNvSpPr txBox="1"/>
          <p:nvPr/>
        </p:nvSpPr>
        <p:spPr>
          <a:xfrm>
            <a:off x="6381750" y="4470648"/>
            <a:ext cx="523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Exemplo:</a:t>
            </a:r>
            <a:r>
              <a:rPr b="0" i="0" lang="en-US" sz="12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 O viral do Ovo de Pistache.</a:t>
            </a:r>
            <a:endParaRPr/>
          </a:p>
        </p:txBody>
      </p:sp>
      <p:pic>
        <p:nvPicPr>
          <p:cNvPr id="238" name="Google Shape;238;p31" title="ovo-pistache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125" y="1912137"/>
            <a:ext cx="3943350" cy="3996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8787" y="1749438"/>
            <a:ext cx="5944700" cy="335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2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CONCEITO 2: DESTRUIÇÃO CRIATIVA</a:t>
            </a:r>
            <a:endParaRPr/>
          </a:p>
        </p:txBody>
      </p:sp>
      <p:sp>
        <p:nvSpPr>
          <p:cNvPr id="245" name="Google Shape;245;p32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2"/>
          <p:cNvSpPr txBox="1"/>
          <p:nvPr/>
        </p:nvSpPr>
        <p:spPr>
          <a:xfrm>
            <a:off x="571500" y="28670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Verticalização</a:t>
            </a:r>
            <a:endParaRPr/>
          </a:p>
        </p:txBody>
      </p:sp>
      <p:sp>
        <p:nvSpPr>
          <p:cNvPr id="247" name="Google Shape;247;p32"/>
          <p:cNvSpPr txBox="1"/>
          <p:nvPr/>
        </p:nvSpPr>
        <p:spPr>
          <a:xfrm>
            <a:off x="571500" y="3264396"/>
            <a:ext cx="523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Romper com o tradicional para dominar a qualidade:</a:t>
            </a:r>
            <a:endParaRPr/>
          </a:p>
        </p:txBody>
      </p:sp>
      <p:sp>
        <p:nvSpPr>
          <p:cNvPr id="248" name="Google Shape;248;p32"/>
          <p:cNvSpPr txBox="1"/>
          <p:nvPr/>
        </p:nvSpPr>
        <p:spPr>
          <a:xfrm>
            <a:off x="895350" y="3654921"/>
            <a:ext cx="571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49" name="Google Shape;249;p32"/>
          <p:cNvSpPr txBox="1"/>
          <p:nvPr/>
        </p:nvSpPr>
        <p:spPr>
          <a:xfrm>
            <a:off x="952500" y="3654921"/>
            <a:ext cx="4857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Fazendas Próprias</a:t>
            </a:r>
            <a:endParaRPr/>
          </a:p>
        </p:txBody>
      </p:sp>
      <p:sp>
        <p:nvSpPr>
          <p:cNvPr id="250" name="Google Shape;250;p32"/>
          <p:cNvSpPr txBox="1"/>
          <p:nvPr/>
        </p:nvSpPr>
        <p:spPr>
          <a:xfrm>
            <a:off x="895350" y="4074021"/>
            <a:ext cx="571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51" name="Google Shape;251;p32"/>
          <p:cNvSpPr txBox="1"/>
          <p:nvPr/>
        </p:nvSpPr>
        <p:spPr>
          <a:xfrm>
            <a:off x="952500" y="4074021"/>
            <a:ext cx="4857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Fábrica de Embalagens</a:t>
            </a:r>
            <a:endParaRPr/>
          </a:p>
        </p:txBody>
      </p:sp>
      <p:sp>
        <p:nvSpPr>
          <p:cNvPr id="252" name="Google Shape;252;p32"/>
          <p:cNvSpPr txBox="1"/>
          <p:nvPr/>
        </p:nvSpPr>
        <p:spPr>
          <a:xfrm>
            <a:off x="895350" y="4493121"/>
            <a:ext cx="571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/>
          </a:p>
        </p:txBody>
      </p:sp>
      <p:sp>
        <p:nvSpPr>
          <p:cNvPr id="253" name="Google Shape;253;p32"/>
          <p:cNvSpPr txBox="1"/>
          <p:nvPr/>
        </p:nvSpPr>
        <p:spPr>
          <a:xfrm>
            <a:off x="952500" y="4493121"/>
            <a:ext cx="4857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Logística Integrada</a:t>
            </a:r>
            <a:endParaRPr/>
          </a:p>
        </p:txBody>
      </p:sp>
      <p:pic>
        <p:nvPicPr>
          <p:cNvPr id="254" name="Google Shape;254;p32" title="fabrica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4539" y="1804084"/>
            <a:ext cx="5793175" cy="324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CONCEITO 3: FOCO NO CLIENTE</a:t>
            </a:r>
            <a:endParaRPr/>
          </a:p>
        </p:txBody>
      </p:sp>
      <p:sp>
        <p:nvSpPr>
          <p:cNvPr id="260" name="Google Shape;260;p3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1" name="Google Shape;2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6987" y="2928937"/>
            <a:ext cx="12477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/>
        </p:nvSpPr>
        <p:spPr>
          <a:xfrm>
            <a:off x="571500" y="4548187"/>
            <a:ext cx="52387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IA + WhatsApp</a:t>
            </a:r>
            <a:endParaRPr/>
          </a:p>
        </p:txBody>
      </p:sp>
      <p:sp>
        <p:nvSpPr>
          <p:cNvPr id="263" name="Google Shape;263;p33"/>
          <p:cNvSpPr txBox="1"/>
          <p:nvPr/>
        </p:nvSpPr>
        <p:spPr>
          <a:xfrm>
            <a:off x="6381750" y="3241923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Tecnologia Humanizada</a:t>
            </a:r>
            <a:endParaRPr/>
          </a:p>
        </p:txBody>
      </p:sp>
      <p:sp>
        <p:nvSpPr>
          <p:cNvPr id="264" name="Google Shape;264;p33"/>
          <p:cNvSpPr txBox="1"/>
          <p:nvPr/>
        </p:nvSpPr>
        <p:spPr>
          <a:xfrm>
            <a:off x="6381750" y="3689598"/>
            <a:ext cx="52387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Uso de Inteligência Artificial para agilizar o atendimento e captar feedbacks instantâneos dos consumidores.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17303"/>
            <a:ext cx="3492400" cy="23758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650" y="2717303"/>
            <a:ext cx="3492549" cy="23758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50" y="2717303"/>
            <a:ext cx="3492400" cy="237589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4"/>
          <p:cNvSpPr txBox="1"/>
          <p:nvPr/>
        </p:nvSpPr>
        <p:spPr>
          <a:xfrm>
            <a:off x="809625" y="571500"/>
            <a:ext cx="11351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CONCEITO 4: </a:t>
            </a:r>
            <a:r>
              <a:rPr b="1" lang="en-US" sz="3375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GESTÃO DO CONHECIMENTO</a:t>
            </a:r>
            <a:endParaRPr/>
          </a:p>
        </p:txBody>
      </p:sp>
      <p:sp>
        <p:nvSpPr>
          <p:cNvPr id="273" name="Google Shape;273;p3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4" name="Google Shape;27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1000" y="3098303"/>
            <a:ext cx="5334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4"/>
          <p:cNvSpPr txBox="1"/>
          <p:nvPr/>
        </p:nvSpPr>
        <p:spPr>
          <a:xfrm>
            <a:off x="784227" y="3943350"/>
            <a:ext cx="3066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Universidade do</a:t>
            </a:r>
            <a:r>
              <a:rPr b="1" lang="en-US" sz="1404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 Cacau</a:t>
            </a:r>
            <a:endParaRPr/>
          </a:p>
        </p:txBody>
      </p:sp>
      <p:sp>
        <p:nvSpPr>
          <p:cNvPr id="276" name="Google Shape;276;p34"/>
          <p:cNvSpPr txBox="1"/>
          <p:nvPr/>
        </p:nvSpPr>
        <p:spPr>
          <a:xfrm>
            <a:off x="857250" y="4340721"/>
            <a:ext cx="2920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Treinamentos com 80% de acerto.</a:t>
            </a:r>
            <a:endParaRPr/>
          </a:p>
        </p:txBody>
      </p:sp>
      <p:pic>
        <p:nvPicPr>
          <p:cNvPr descr="image.png" id="277" name="Google Shape;277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29151" y="3098303"/>
            <a:ext cx="5334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4"/>
          <p:cNvSpPr txBox="1"/>
          <p:nvPr/>
        </p:nvSpPr>
        <p:spPr>
          <a:xfrm>
            <a:off x="4562374" y="3943350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Mentoria</a:t>
            </a:r>
            <a:endParaRPr/>
          </a:p>
        </p:txBody>
      </p:sp>
      <p:sp>
        <p:nvSpPr>
          <p:cNvPr id="279" name="Google Shape;279;p34"/>
          <p:cNvSpPr txBox="1"/>
          <p:nvPr/>
        </p:nvSpPr>
        <p:spPr>
          <a:xfrm>
            <a:off x="4635400" y="4340721"/>
            <a:ext cx="292104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Troca entre colaboradoras.</a:t>
            </a:r>
            <a:endParaRPr/>
          </a:p>
        </p:txBody>
      </p:sp>
      <p:pic>
        <p:nvPicPr>
          <p:cNvPr descr="image.png" id="280" name="Google Shape;280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88413" y="3098303"/>
            <a:ext cx="3714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4"/>
          <p:cNvSpPr txBox="1"/>
          <p:nvPr/>
        </p:nvSpPr>
        <p:spPr>
          <a:xfrm>
            <a:off x="8340677" y="3943350"/>
            <a:ext cx="3066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Ciclo de Valor</a:t>
            </a:r>
            <a:endParaRPr/>
          </a:p>
        </p:txBody>
      </p:sp>
      <p:sp>
        <p:nvSpPr>
          <p:cNvPr id="282" name="Google Shape;282;p34"/>
          <p:cNvSpPr txBox="1"/>
          <p:nvPr/>
        </p:nvSpPr>
        <p:spPr>
          <a:xfrm>
            <a:off x="8413700" y="4340721"/>
            <a:ext cx="292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Transformando conhecimento t</a:t>
            </a: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ácito em re</a:t>
            </a:r>
            <a:r>
              <a:rPr lang="en-US" sz="120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sultado e</a:t>
            </a: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xplícito.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5"/>
          <p:cNvSpPr txBox="1"/>
          <p:nvPr/>
        </p:nvSpPr>
        <p:spPr>
          <a:xfrm>
            <a:off x="809625" y="571500"/>
            <a:ext cx="113514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CONCEITO 5: CONTINGENCIAL</a:t>
            </a:r>
            <a:endParaRPr/>
          </a:p>
        </p:txBody>
      </p:sp>
      <p:sp>
        <p:nvSpPr>
          <p:cNvPr id="289" name="Google Shape;289;p3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5"/>
          <p:cNvSpPr txBox="1"/>
          <p:nvPr/>
        </p:nvSpPr>
        <p:spPr>
          <a:xfrm>
            <a:off x="571500" y="353853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Sazonalidade</a:t>
            </a:r>
            <a:endParaRPr/>
          </a:p>
        </p:txBody>
      </p:sp>
      <p:sp>
        <p:nvSpPr>
          <p:cNvPr id="291" name="Google Shape;291;p35"/>
          <p:cNvSpPr txBox="1"/>
          <p:nvPr/>
        </p:nvSpPr>
        <p:spPr>
          <a:xfrm>
            <a:off x="571500" y="3935908"/>
            <a:ext cx="523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Gestão de crises e picos de demanda (Páscoa) com agilidade na franqueadora.</a:t>
            </a:r>
            <a:endParaRPr/>
          </a:p>
        </p:txBody>
      </p:sp>
      <p:pic>
        <p:nvPicPr>
          <p:cNvPr id="292" name="Google Shape;29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4150" y="1446300"/>
            <a:ext cx="3597550" cy="443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5"/>
          <p:cNvSpPr txBox="1"/>
          <p:nvPr/>
        </p:nvSpPr>
        <p:spPr>
          <a:xfrm>
            <a:off x="10189075" y="5290450"/>
            <a:ext cx="141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Cam</a:t>
            </a:r>
            <a:r>
              <a:rPr lang="en-US" sz="120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panha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00350"/>
            <a:ext cx="11049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6"/>
          <p:cNvSpPr txBox="1"/>
          <p:nvPr/>
        </p:nvSpPr>
        <p:spPr>
          <a:xfrm>
            <a:off x="809625" y="571500"/>
            <a:ext cx="1135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5F5F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IMPACTO NA GESTÃO</a:t>
            </a:r>
            <a:endParaRPr/>
          </a:p>
        </p:txBody>
      </p:sp>
      <p:sp>
        <p:nvSpPr>
          <p:cNvPr id="300" name="Google Shape;300;p36"/>
          <p:cNvSpPr/>
          <p:nvPr/>
        </p:nvSpPr>
        <p:spPr>
          <a:xfrm>
            <a:off x="571500" y="571500"/>
            <a:ext cx="57300" cy="5334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6"/>
          <p:cNvSpPr txBox="1"/>
          <p:nvPr/>
        </p:nvSpPr>
        <p:spPr>
          <a:xfrm>
            <a:off x="952500" y="3567112"/>
            <a:ext cx="5100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Profissionalização</a:t>
            </a:r>
            <a:endParaRPr/>
          </a:p>
        </p:txBody>
      </p:sp>
      <p:sp>
        <p:nvSpPr>
          <p:cNvPr id="302" name="Google Shape;302;p36"/>
          <p:cNvSpPr txBox="1"/>
          <p:nvPr/>
        </p:nvSpPr>
        <p:spPr>
          <a:xfrm>
            <a:off x="6381750" y="3429000"/>
            <a:ext cx="48579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A aplicação desses conceitos resulta na </a:t>
            </a:r>
            <a:r>
              <a:rPr b="1" i="0" lang="en-US" sz="19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sustentabilidade</a:t>
            </a:r>
            <a:r>
              <a:rPr b="0" i="0" lang="en-US" sz="19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i="0" lang="en-US" sz="19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longevidade</a:t>
            </a:r>
            <a:r>
              <a:rPr b="0" i="0" lang="en-US" sz="195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 da unidade franqueada.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1B14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7"/>
          <p:cNvSpPr txBox="1"/>
          <p:nvPr/>
        </p:nvSpPr>
        <p:spPr>
          <a:xfrm>
            <a:off x="295275" y="1757362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C5A059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Conclusão</a:t>
            </a:r>
            <a:endParaRPr/>
          </a:p>
        </p:txBody>
      </p:sp>
      <p:sp>
        <p:nvSpPr>
          <p:cNvPr id="308" name="Google Shape;308;p37"/>
          <p:cNvSpPr txBox="1"/>
          <p:nvPr/>
        </p:nvSpPr>
        <p:spPr>
          <a:xfrm>
            <a:off x="1809750" y="2900362"/>
            <a:ext cx="8572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Os princípios da administração são facilmente identificáveis em empresas de sucesso.</a:t>
            </a:r>
            <a:endParaRPr/>
          </a:p>
        </p:txBody>
      </p:sp>
      <p:sp>
        <p:nvSpPr>
          <p:cNvPr id="309" name="Google Shape;309;p37"/>
          <p:cNvSpPr/>
          <p:nvPr/>
        </p:nvSpPr>
        <p:spPr>
          <a:xfrm>
            <a:off x="5381625" y="4176712"/>
            <a:ext cx="142875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7"/>
          <p:cNvSpPr txBox="1"/>
          <p:nvPr/>
        </p:nvSpPr>
        <p:spPr>
          <a:xfrm>
            <a:off x="571500" y="4767262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Análise de Gestão - 202</a:t>
            </a:r>
            <a:r>
              <a:rPr lang="en-US" sz="1200">
                <a:solidFill>
                  <a:srgbClr val="F5F5F5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